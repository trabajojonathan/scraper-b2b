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8983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es la investigación y el diseño de cómo construiríamos el buscador de clientes. No es el código todavía — es el plano de cómo funcionaría.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una frase: le dices qué vendes, y te devuelve una lista de clientes potenciales con su contacto y un correo listo para revisar.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Funciona para cualquier producto. Lo clave: busca al que COMPRA el producto, no al que lo produce. Por eso 'pan' no lleva a panaderías, sino a quien compra pan.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día corre solo los pasos de armar la lista. El envío nunca es automático: una persona revisa antes. Así no mandamos correos sin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vacante de 'asistente que contesta WhatsApp' es una empresa que puedo automatizar. Por eso, según qué vendo, busco en un lado u otro. Los dos modos entran al mismo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Así se vería la pantalla principal: eliges el modo, escribes qué producto vendes, y aparece la lista de leads con su contacto y estado. Wireframe de media fidelidad, sin color de marca todavía.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Así se pide una búsqueda: eliges el modo, escribes qué producto vendes, y la IA sugiere a quién venderle —la categoría— antes de buscar. Wireframe de media fidelidad.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punto de control humano: cada correo se revisa antes de salir. A la izquierda los datos del lead, a la derecha el correo que redactó la IA —editable— y los botones para aprobar, editar o descartar. Nada se envía sin aprobación.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abrir un lead se ve su ficha: estado, categoría, ubicación, contacto y rating; y desde aquí se añade a una campaña. Wireframe de media fidelidad.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 lo que la empresa ya paga: Claude, Supabase, Vercel. Con $5 de IA arranca la parte de IA; Apify y la API de Maps van aparte pero son centavos por negocio. No es caro — y ojo, no es 'todo con $5': la IA sí, las otras herramientas aparte.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 mantenemos en datos públicos. LinkedIn fuera a propósito, por riesgo legal y de baneo. Un matiz honesto: un email público sigue siendo dato personal bajo la Ley 81 — bajo riesgo y defendible, lo manejamos con cuidado (opt-out, solo B2B). Y a la derecha, todo lo que ya decidimos contigo.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Necesito que me confirmes tres cosas para cerrar el diseño: el CRM, cómo se arman las categorías del Modo 1, y el dominio de envío. Con eso arranco un MVP pequeño que funcione de punta a punta, y de ahí escalamos.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954000" y="-247650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7C5CFF">
                  <a:alpha val="30000"/>
                </a:srgbClr>
              </a:gs>
              <a:gs pos="62000">
                <a:srgbClr val="7C5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PA"/>
          </a:p>
        </p:txBody>
      </p:sp>
      <p:sp>
        <p:nvSpPr>
          <p:cNvPr id="3" name="Shape 1"/>
          <p:cNvSpPr/>
          <p:nvPr/>
        </p:nvSpPr>
        <p:spPr>
          <a:xfrm>
            <a:off x="-1905000" y="7048500"/>
            <a:ext cx="6096000" cy="6096000"/>
          </a:xfrm>
          <a:prstGeom prst="ellipse">
            <a:avLst/>
          </a:prstGeom>
          <a:gradFill rotWithShape="1">
            <a:gsLst>
              <a:gs pos="0">
                <a:srgbClr val="2DE2A6">
                  <a:alpha val="16000"/>
                </a:srgbClr>
              </a:gs>
              <a:gs pos="64000">
                <a:srgbClr val="2DE2A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PA"/>
          </a:p>
        </p:txBody>
      </p:sp>
      <p:sp>
        <p:nvSpPr>
          <p:cNvPr id="4" name="Shape 2"/>
          <p:cNvSpPr/>
          <p:nvPr/>
        </p:nvSpPr>
        <p:spPr>
          <a:xfrm>
            <a:off x="1143000" y="2649670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2DE2A6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5" name="Text 3"/>
          <p:cNvSpPr/>
          <p:nvPr/>
        </p:nvSpPr>
        <p:spPr>
          <a:xfrm>
            <a:off x="1428750" y="2585111"/>
            <a:ext cx="1620666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CODEFLOW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54482" y="2585111"/>
            <a:ext cx="4140504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INVESTIGACIÓN Y DISEÑO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3228578"/>
            <a:ext cx="13342620" cy="2058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400"/>
              </a:lnSpc>
              <a:buNone/>
            </a:pPr>
            <a:r>
              <a:rPr lang="en-US" sz="7800" b="1" kern="0" spc="-150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Buscador inteligente de clientes </a:t>
            </a:r>
            <a:r>
              <a:rPr lang="en-US" sz="7800" b="1" kern="0" spc="-150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</a:t>
            </a:r>
            <a:endParaRPr lang="en-US" sz="7800" dirty="0"/>
          </a:p>
        </p:txBody>
      </p:sp>
      <p:sp>
        <p:nvSpPr>
          <p:cNvPr id="8" name="Text 6"/>
          <p:cNvSpPr/>
          <p:nvPr/>
        </p:nvSpPr>
        <p:spPr>
          <a:xfrm>
            <a:off x="1143000" y="5630201"/>
            <a:ext cx="10301288" cy="1051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43"/>
              </a:lnSpc>
              <a:buNone/>
            </a:pPr>
            <a:r>
              <a:rPr lang="en-US" sz="2850" dirty="0">
                <a:solidFill>
                  <a:srgbClr val="9A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 interna de prospección. Todavía no es código — es el plano de cómo funcionaría.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143000" y="7414022"/>
            <a:ext cx="224145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Jonathan Quintero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3390239" y="7525147"/>
            <a:ext cx="57150" cy="57150"/>
          </a:xfrm>
          <a:prstGeom prst="ellipse">
            <a:avLst/>
          </a:prstGeom>
          <a:solidFill>
            <a:srgbClr val="7C5CFF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11" name="Text 9"/>
          <p:cNvSpPr/>
          <p:nvPr/>
        </p:nvSpPr>
        <p:spPr>
          <a:xfrm>
            <a:off x="3656939" y="7405556"/>
            <a:ext cx="136163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A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Julio 2026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854060"/>
            <a:ext cx="17602200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SOLUCIÓN, EN UNA FRASE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535627"/>
            <a:ext cx="15304770" cy="3935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18"/>
              </a:lnSpc>
              <a:buNone/>
            </a:pPr>
            <a:r>
              <a:rPr lang="en-US" sz="4950" kern="0" spc="-75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 dices </a:t>
            </a:r>
            <a:r>
              <a:rPr lang="en-US" sz="4950" kern="0" spc="-75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producto </a:t>
            </a:r>
            <a:r>
              <a:rPr lang="en-US" sz="4950" kern="0" spc="-75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quieres vender y la herramienta encuentra los </a:t>
            </a:r>
            <a:r>
              <a:rPr lang="en-US" sz="4950" kern="0" spc="-75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negocios que lo comprarían </a:t>
            </a:r>
            <a:r>
              <a:rPr lang="en-US" sz="4950" kern="0" spc="-75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saca su </a:t>
            </a:r>
            <a:r>
              <a:rPr lang="en-US" sz="4950" kern="0" spc="-75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 </a:t>
            </a:r>
            <a:r>
              <a:rPr lang="en-US" sz="4950" kern="0" spc="-75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arma la </a:t>
            </a:r>
            <a:r>
              <a:rPr lang="en-US" sz="4950" kern="0" spc="-75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campaña de correo </a:t>
            </a:r>
            <a:r>
              <a:rPr lang="en-US" sz="4950" kern="0" spc="-75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que un </a:t>
            </a:r>
            <a:r>
              <a:rPr lang="en-US" sz="4950" kern="0" spc="-75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humano revisa </a:t>
            </a:r>
            <a:r>
              <a:rPr lang="en-US" sz="4950" kern="0" spc="-75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enviar.</a:t>
            </a:r>
            <a:endParaRPr lang="en-US" sz="4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17602200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ROUTER PREGUNTA: “¿QUÉ QUIERES VENDER HOY?”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519767"/>
            <a:ext cx="17602200" cy="867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700" b="1" kern="0" spc="-75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modos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143000" y="2844800"/>
            <a:ext cx="7848600" cy="2214827"/>
          </a:xfrm>
          <a:prstGeom prst="roundRect">
            <a:avLst>
              <a:gd name="adj" fmla="val 8601"/>
            </a:avLst>
          </a:prstGeom>
          <a:solidFill>
            <a:srgbClr val="7C5CFF">
              <a:alpha val="10000"/>
            </a:srgbClr>
          </a:solidFill>
          <a:ln w="8467">
            <a:solidFill>
              <a:srgbClr val="7C5CFF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" name="Text 3"/>
          <p:cNvSpPr/>
          <p:nvPr/>
        </p:nvSpPr>
        <p:spPr>
          <a:xfrm>
            <a:off x="1589617" y="3272367"/>
            <a:ext cx="7650903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B9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1 · CODEFLOW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89617" y="3706283"/>
            <a:ext cx="7650903" cy="500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30"/>
              </a:lnSpc>
              <a:buNone/>
            </a:pPr>
            <a:r>
              <a:rPr lang="en-US" sz="2700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Vender un producto de </a:t>
            </a:r>
            <a:r>
              <a:rPr lang="en-US" sz="27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lista</a:t>
            </a:r>
            <a:r>
              <a:rPr lang="en-US" sz="2700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296400" y="2844800"/>
            <a:ext cx="7848600" cy="2214827"/>
          </a:xfrm>
          <a:prstGeom prst="roundRect">
            <a:avLst>
              <a:gd name="adj" fmla="val 8601"/>
            </a:avLst>
          </a:prstGeom>
          <a:solidFill>
            <a:srgbClr val="2DE2A6">
              <a:alpha val="8000"/>
            </a:srgbClr>
          </a:solidFill>
          <a:ln w="8467">
            <a:solidFill>
              <a:srgbClr val="2DE2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8" name="Text 6"/>
          <p:cNvSpPr/>
          <p:nvPr/>
        </p:nvSpPr>
        <p:spPr>
          <a:xfrm>
            <a:off x="9743017" y="3272367"/>
            <a:ext cx="7650903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8FE9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2 · GENÉRICO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43017" y="3706283"/>
            <a:ext cx="7164028" cy="963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30"/>
              </a:lnSpc>
              <a:buNone/>
            </a:pPr>
            <a:r>
              <a:rPr lang="en-US" sz="2700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Escribes </a:t>
            </a:r>
            <a:r>
              <a:rPr lang="en-US" sz="27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 producto </a:t>
            </a:r>
            <a:r>
              <a:rPr lang="en-US" sz="2700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la IA busca a quién se lo venderías.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143000" y="5440627"/>
            <a:ext cx="16002000" cy="1716617"/>
          </a:xfrm>
          <a:prstGeom prst="roundRect">
            <a:avLst>
              <a:gd name="adj" fmla="val 11097"/>
            </a:avLst>
          </a:prstGeom>
          <a:solidFill>
            <a:srgbClr val="FFFFFF">
              <a:alpha val="4000"/>
            </a:srgbClr>
          </a:solidFill>
          <a:ln w="8467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1" name="Text 9"/>
          <p:cNvSpPr/>
          <p:nvPr/>
        </p:nvSpPr>
        <p:spPr>
          <a:xfrm>
            <a:off x="1589617" y="5830094"/>
            <a:ext cx="1661964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A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al que </a:t>
            </a:r>
            <a:r>
              <a:rPr lang="en-US" sz="1950" b="1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</a:t>
            </a:r>
            <a:r>
              <a:rPr lang="en-US" sz="1950" dirty="0">
                <a:solidFill>
                  <a:srgbClr val="9A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producto, no al que lo produce: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589617" y="6365610"/>
            <a:ext cx="3553619" cy="410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C7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“automatización legal”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10679" y="6335977"/>
            <a:ext cx="438150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5563129" y="6374077"/>
            <a:ext cx="294490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firmas de abogados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773716" y="6365610"/>
            <a:ext cx="879607" cy="410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C7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“pan”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767624" y="6335977"/>
            <a:ext cx="438150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0320074" y="6374077"/>
            <a:ext cx="322430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restaurantes / hoteles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441760" y="6412177"/>
            <a:ext cx="187343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panaderías)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429999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VE CADA CORRIDA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05467"/>
            <a:ext cx="4299995" cy="82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 diario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892345" y="1896533"/>
            <a:ext cx="378747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A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envío </a:t>
            </a:r>
            <a:r>
              <a:rPr lang="en-US" sz="1950" b="1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</a:t>
            </a:r>
            <a:r>
              <a:rPr lang="en-US" sz="1950" dirty="0">
                <a:solidFill>
                  <a:srgbClr val="9A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automático.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2809875"/>
            <a:ext cx="95250" cy="95250"/>
          </a:xfrm>
          <a:prstGeom prst="ellipse">
            <a:avLst/>
          </a:prstGeom>
          <a:solidFill>
            <a:srgbClr val="7C5CFF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6" name="Text 4"/>
          <p:cNvSpPr/>
          <p:nvPr/>
        </p:nvSpPr>
        <p:spPr>
          <a:xfrm>
            <a:off x="1162050" y="2726267"/>
            <a:ext cx="32859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AUTOMÁTICO · CADA DÍA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82500" y="2809875"/>
            <a:ext cx="95250" cy="95250"/>
          </a:xfrm>
          <a:prstGeom prst="ellipse">
            <a:avLst/>
          </a:prstGeom>
          <a:solidFill>
            <a:srgbClr val="2DE2A6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8" name="Text 6"/>
          <p:cNvSpPr/>
          <p:nvPr/>
        </p:nvSpPr>
        <p:spPr>
          <a:xfrm>
            <a:off x="12592050" y="2726267"/>
            <a:ext cx="253166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HUMANO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5313892"/>
            <a:ext cx="1676400" cy="2000250"/>
          </a:xfrm>
          <a:prstGeom prst="roundRect">
            <a:avLst>
              <a:gd name="adj" fmla="val 9091"/>
            </a:avLst>
          </a:prstGeom>
          <a:solidFill>
            <a:srgbClr val="7C5CFF">
              <a:alpha val="10000"/>
            </a:srgbClr>
          </a:solidFill>
          <a:ln w="8467">
            <a:solidFill>
              <a:srgbClr val="7C5C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0" name="Text 8"/>
          <p:cNvSpPr/>
          <p:nvPr/>
        </p:nvSpPr>
        <p:spPr>
          <a:xfrm>
            <a:off x="1151467" y="5796889"/>
            <a:ext cx="1406313" cy="344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905"/>
              </a:lnSpc>
              <a:buNone/>
            </a:pPr>
            <a:r>
              <a:rPr lang="en-US" sz="21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51467" y="6236891"/>
            <a:ext cx="1354667" cy="632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1800" dirty="0">
                <a:solidFill>
                  <a:srgbClr val="9A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“Abogados · Panamá”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62250" y="6140450"/>
            <a:ext cx="361950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A6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3181350" y="5313892"/>
            <a:ext cx="1676400" cy="2000250"/>
          </a:xfrm>
          <a:prstGeom prst="roundRect">
            <a:avLst>
              <a:gd name="adj" fmla="val 9091"/>
            </a:avLst>
          </a:prstGeom>
          <a:solidFill>
            <a:srgbClr val="7C5CFF">
              <a:alpha val="10000"/>
            </a:srgbClr>
          </a:solidFill>
          <a:ln w="8467">
            <a:solidFill>
              <a:srgbClr val="7C5C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4" name="Text 12"/>
          <p:cNvSpPr/>
          <p:nvPr/>
        </p:nvSpPr>
        <p:spPr>
          <a:xfrm>
            <a:off x="3380317" y="5643563"/>
            <a:ext cx="1354667" cy="651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905"/>
              </a:lnSpc>
              <a:buNone/>
            </a:pPr>
            <a:r>
              <a:rPr lang="en-US" sz="21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Extraer negocios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380317" y="6390217"/>
            <a:ext cx="1354667" cy="632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1800" dirty="0">
                <a:solidFill>
                  <a:srgbClr val="9A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API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91100" y="6140450"/>
            <a:ext cx="361950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A6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5410200" y="5313892"/>
            <a:ext cx="1676400" cy="2000250"/>
          </a:xfrm>
          <a:prstGeom prst="roundRect">
            <a:avLst>
              <a:gd name="adj" fmla="val 9091"/>
            </a:avLst>
          </a:prstGeom>
          <a:solidFill>
            <a:srgbClr val="7C5CFF">
              <a:alpha val="10000"/>
            </a:srgbClr>
          </a:solidFill>
          <a:ln w="8467">
            <a:solidFill>
              <a:srgbClr val="7C5C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8" name="Text 16"/>
          <p:cNvSpPr/>
          <p:nvPr/>
        </p:nvSpPr>
        <p:spPr>
          <a:xfrm>
            <a:off x="5609167" y="5792126"/>
            <a:ext cx="1354667" cy="651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905"/>
              </a:lnSpc>
              <a:buNone/>
            </a:pPr>
            <a:r>
              <a:rPr lang="en-US" sz="21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Extraer correos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09167" y="6538781"/>
            <a:ext cx="1406313" cy="335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1800" dirty="0">
                <a:solidFill>
                  <a:srgbClr val="9A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Apify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19950" y="6140450"/>
            <a:ext cx="361950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A6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7639050" y="5313892"/>
            <a:ext cx="1676400" cy="2000250"/>
          </a:xfrm>
          <a:prstGeom prst="roundRect">
            <a:avLst>
              <a:gd name="adj" fmla="val 9091"/>
            </a:avLst>
          </a:prstGeom>
          <a:solidFill>
            <a:srgbClr val="7C5CFF">
              <a:alpha val="10000"/>
            </a:srgbClr>
          </a:solidFill>
          <a:ln w="8467">
            <a:solidFill>
              <a:srgbClr val="7C5C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2" name="Text 20"/>
          <p:cNvSpPr/>
          <p:nvPr/>
        </p:nvSpPr>
        <p:spPr>
          <a:xfrm>
            <a:off x="7838017" y="5945452"/>
            <a:ext cx="1406313" cy="344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905"/>
              </a:lnSpc>
              <a:buNone/>
            </a:pPr>
            <a:r>
              <a:rPr lang="en-US" sz="21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Guardar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838017" y="6385454"/>
            <a:ext cx="1406313" cy="335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1800" dirty="0">
                <a:solidFill>
                  <a:srgbClr val="9A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48800" y="6140450"/>
            <a:ext cx="361950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A6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867900" y="5313892"/>
            <a:ext cx="1676400" cy="2000250"/>
          </a:xfrm>
          <a:prstGeom prst="roundRect">
            <a:avLst>
              <a:gd name="adj" fmla="val 9091"/>
            </a:avLst>
          </a:prstGeom>
          <a:solidFill>
            <a:srgbClr val="7C5CFF">
              <a:alpha val="10000"/>
            </a:srgbClr>
          </a:solidFill>
          <a:ln w="8467">
            <a:solidFill>
              <a:srgbClr val="7C5C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6" name="Text 24"/>
          <p:cNvSpPr/>
          <p:nvPr/>
        </p:nvSpPr>
        <p:spPr>
          <a:xfrm>
            <a:off x="10066867" y="5643563"/>
            <a:ext cx="1354667" cy="651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905"/>
              </a:lnSpc>
              <a:buNone/>
            </a:pPr>
            <a:r>
              <a:rPr lang="en-US" sz="21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Campaña de email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0066867" y="6390217"/>
            <a:ext cx="1354667" cy="632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1800" dirty="0">
                <a:solidFill>
                  <a:srgbClr val="9A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redacta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677650" y="6119283"/>
            <a:ext cx="400050" cy="427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29" name="Shape 27"/>
          <p:cNvSpPr/>
          <p:nvPr/>
        </p:nvSpPr>
        <p:spPr>
          <a:xfrm>
            <a:off x="12134850" y="5238883"/>
            <a:ext cx="1771650" cy="2150269"/>
          </a:xfrm>
          <a:prstGeom prst="roundRect">
            <a:avLst>
              <a:gd name="adj" fmla="val 8602"/>
            </a:avLst>
          </a:prstGeom>
          <a:solidFill>
            <a:srgbClr val="2DE2A6">
              <a:alpha val="12000"/>
            </a:srgbClr>
          </a:solidFill>
          <a:ln w="8467">
            <a:solidFill>
              <a:srgbClr val="2DE2A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0" name="Text 28"/>
          <p:cNvSpPr/>
          <p:nvPr/>
        </p:nvSpPr>
        <p:spPr>
          <a:xfrm>
            <a:off x="12333817" y="5494999"/>
            <a:ext cx="1449917" cy="651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905"/>
              </a:lnSpc>
              <a:buNone/>
            </a:pPr>
            <a:r>
              <a:rPr lang="en-US" sz="2100" b="1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humana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2333817" y="6241653"/>
            <a:ext cx="1449917" cy="929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1800" dirty="0">
                <a:solidFill>
                  <a:srgbClr val="B9F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persona aprueba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039850" y="6119283"/>
            <a:ext cx="400050" cy="427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33" name="Shape 31"/>
          <p:cNvSpPr/>
          <p:nvPr/>
        </p:nvSpPr>
        <p:spPr>
          <a:xfrm>
            <a:off x="14497050" y="5313892"/>
            <a:ext cx="1428750" cy="2000250"/>
          </a:xfrm>
          <a:prstGeom prst="roundRect">
            <a:avLst>
              <a:gd name="adj" fmla="val 10667"/>
            </a:avLst>
          </a:prstGeom>
          <a:solidFill>
            <a:srgbClr val="2DE2A6">
              <a:alpha val="12000"/>
            </a:srgbClr>
          </a:solidFill>
          <a:ln w="8467">
            <a:solidFill>
              <a:srgbClr val="2DE2A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4" name="Text 32"/>
          <p:cNvSpPr/>
          <p:nvPr/>
        </p:nvSpPr>
        <p:spPr>
          <a:xfrm>
            <a:off x="14696017" y="6160691"/>
            <a:ext cx="1107017" cy="344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905"/>
              </a:lnSpc>
              <a:buNone/>
            </a:pPr>
            <a:r>
              <a:rPr lang="en-US" sz="2100" b="1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Envío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8105120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 POR DENTRO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14967"/>
            <a:ext cx="18105120" cy="732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75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arquitectura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442633"/>
            <a:ext cx="1571625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6E7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609850" y="2233083"/>
            <a:ext cx="2738702" cy="681567"/>
          </a:xfrm>
          <a:prstGeom prst="roundRect">
            <a:avLst>
              <a:gd name="adj" fmla="val 19565"/>
            </a:avLst>
          </a:prstGeom>
          <a:solidFill>
            <a:srgbClr val="7C5CFF">
              <a:alpha val="10000"/>
            </a:srgbClr>
          </a:solidFill>
          <a:ln w="8467">
            <a:solidFill>
              <a:srgbClr val="7C5CFF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6" name="Text 4"/>
          <p:cNvSpPr/>
          <p:nvPr/>
        </p:nvSpPr>
        <p:spPr>
          <a:xfrm>
            <a:off x="2904067" y="2413000"/>
            <a:ext cx="2232430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1 · Codeflow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539052" y="2233083"/>
            <a:ext cx="2719520" cy="681567"/>
          </a:xfrm>
          <a:prstGeom prst="roundRect">
            <a:avLst>
              <a:gd name="adj" fmla="val 19565"/>
            </a:avLst>
          </a:prstGeom>
          <a:solidFill>
            <a:srgbClr val="2DE2A6">
              <a:alpha val="8000"/>
            </a:srgbClr>
          </a:solidFill>
          <a:ln w="8467">
            <a:solidFill>
              <a:srgbClr val="2DE2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8" name="Text 6"/>
          <p:cNvSpPr/>
          <p:nvPr/>
        </p:nvSpPr>
        <p:spPr>
          <a:xfrm>
            <a:off x="5833269" y="2413000"/>
            <a:ext cx="2212672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2 · Genérico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8449072" y="2408767"/>
            <a:ext cx="3429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A6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906272" y="2262717"/>
            <a:ext cx="3400557" cy="622300"/>
          </a:xfrm>
          <a:prstGeom prst="roundRect">
            <a:avLst>
              <a:gd name="adj" fmla="val 21429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11" name="Text 9"/>
          <p:cNvSpPr/>
          <p:nvPr/>
        </p:nvSpPr>
        <p:spPr>
          <a:xfrm>
            <a:off x="9174701" y="2392601"/>
            <a:ext cx="3076707" cy="433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· “¿Qué vendes?”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609850" y="3086100"/>
            <a:ext cx="16240125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A6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14400" y="3947583"/>
            <a:ext cx="93371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6E7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210050"/>
            <a:ext cx="98451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6E7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SEGÚN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472517"/>
            <a:ext cx="153259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6E7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609850" y="3553883"/>
            <a:ext cx="7267575" cy="1574800"/>
          </a:xfrm>
          <a:prstGeom prst="roundRect">
            <a:avLst>
              <a:gd name="adj" fmla="val 9677"/>
            </a:avLst>
          </a:prstGeom>
          <a:solidFill>
            <a:srgbClr val="FFFFFF">
              <a:alpha val="4000"/>
            </a:srgbClr>
          </a:solidFill>
          <a:ln w="8467">
            <a:solidFill>
              <a:srgbClr val="7C5CFF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7" name="Text 15"/>
          <p:cNvSpPr/>
          <p:nvPr/>
        </p:nvSpPr>
        <p:spPr>
          <a:xfrm>
            <a:off x="2923117" y="3810000"/>
            <a:ext cx="7305146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9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Vendes automatización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923117" y="4167717"/>
            <a:ext cx="7305146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Vacantes de empleo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2923117" y="4593167"/>
            <a:ext cx="7305146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Konzerta · Computrabajo (vía Apify)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106025" y="3553883"/>
            <a:ext cx="7267575" cy="1574800"/>
          </a:xfrm>
          <a:prstGeom prst="roundRect">
            <a:avLst>
              <a:gd name="adj" fmla="val 9677"/>
            </a:avLst>
          </a:prstGeom>
          <a:solidFill>
            <a:srgbClr val="FFFFFF">
              <a:alpha val="4000"/>
            </a:srgbClr>
          </a:solidFill>
          <a:ln w="8467">
            <a:solidFill>
              <a:srgbClr val="2DE2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1" name="Text 19"/>
          <p:cNvSpPr/>
          <p:nvPr/>
        </p:nvSpPr>
        <p:spPr>
          <a:xfrm>
            <a:off x="10419292" y="3810000"/>
            <a:ext cx="7305146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FE9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Vendes web / local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419292" y="4167717"/>
            <a:ext cx="7305146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Google Maps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0419292" y="4593167"/>
            <a:ext cx="7305146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Places API oficial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609850" y="5300133"/>
            <a:ext cx="16240125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A6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14400" y="6106584"/>
            <a:ext cx="1571625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6E7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609850" y="5767917"/>
            <a:ext cx="2571750" cy="939800"/>
          </a:xfrm>
          <a:prstGeom prst="roundRect">
            <a:avLst>
              <a:gd name="adj" fmla="val 14189"/>
            </a:avLst>
          </a:prstGeom>
          <a:solidFill>
            <a:srgbClr val="FFFFFF">
              <a:alpha val="5000"/>
            </a:srgbClr>
          </a:solidFill>
          <a:ln w="8467">
            <a:solidFill>
              <a:srgbClr val="FFFFFF">
                <a:alpha val="11000"/>
              </a:srgbClr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7" name="Text 25"/>
          <p:cNvSpPr/>
          <p:nvPr/>
        </p:nvSpPr>
        <p:spPr>
          <a:xfrm>
            <a:off x="2679171" y="5966883"/>
            <a:ext cx="2433108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Apify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679171" y="6229350"/>
            <a:ext cx="243310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extrae email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95900" y="6098117"/>
            <a:ext cx="3048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638800" y="5767917"/>
            <a:ext cx="2571750" cy="939800"/>
          </a:xfrm>
          <a:prstGeom prst="roundRect">
            <a:avLst>
              <a:gd name="adj" fmla="val 14189"/>
            </a:avLst>
          </a:prstGeom>
          <a:solidFill>
            <a:srgbClr val="FFFFFF">
              <a:alpha val="5000"/>
            </a:srgbClr>
          </a:solidFill>
          <a:ln w="8467">
            <a:solidFill>
              <a:srgbClr val="FFFFFF">
                <a:alpha val="11000"/>
              </a:srgbClr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1" name="Text 29"/>
          <p:cNvSpPr/>
          <p:nvPr/>
        </p:nvSpPr>
        <p:spPr>
          <a:xfrm>
            <a:off x="5708121" y="5966883"/>
            <a:ext cx="2433108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708121" y="6229350"/>
            <a:ext cx="243310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324850" y="6098117"/>
            <a:ext cx="3048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667750" y="5767917"/>
            <a:ext cx="2571750" cy="939800"/>
          </a:xfrm>
          <a:prstGeom prst="roundRect">
            <a:avLst>
              <a:gd name="adj" fmla="val 14189"/>
            </a:avLst>
          </a:prstGeom>
          <a:solidFill>
            <a:srgbClr val="FFFFFF">
              <a:alpha val="5000"/>
            </a:srgbClr>
          </a:solidFill>
          <a:ln w="8467">
            <a:solidFill>
              <a:srgbClr val="FFFFFF">
                <a:alpha val="11000"/>
              </a:srgbClr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5" name="Text 33"/>
          <p:cNvSpPr/>
          <p:nvPr/>
        </p:nvSpPr>
        <p:spPr>
          <a:xfrm>
            <a:off x="8737071" y="5966883"/>
            <a:ext cx="2433108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737071" y="6229350"/>
            <a:ext cx="243310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redacta campaña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1353800" y="6072717"/>
            <a:ext cx="3429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11734800" y="5767917"/>
            <a:ext cx="2571750" cy="939800"/>
          </a:xfrm>
          <a:prstGeom prst="roundRect">
            <a:avLst>
              <a:gd name="adj" fmla="val 14189"/>
            </a:avLst>
          </a:prstGeom>
          <a:solidFill>
            <a:srgbClr val="2DE2A6">
              <a:alpha val="12000"/>
            </a:srgbClr>
          </a:solidFill>
          <a:ln w="8467">
            <a:solidFill>
              <a:srgbClr val="2DE2A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9" name="Text 37"/>
          <p:cNvSpPr/>
          <p:nvPr/>
        </p:nvSpPr>
        <p:spPr>
          <a:xfrm>
            <a:off x="11804121" y="5966883"/>
            <a:ext cx="2433108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804121" y="6229350"/>
            <a:ext cx="243310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B9F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humana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4420850" y="6072717"/>
            <a:ext cx="3429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14801850" y="5767917"/>
            <a:ext cx="2571750" cy="939800"/>
          </a:xfrm>
          <a:prstGeom prst="roundRect">
            <a:avLst>
              <a:gd name="adj" fmla="val 14189"/>
            </a:avLst>
          </a:prstGeom>
          <a:solidFill>
            <a:srgbClr val="2DE2A6">
              <a:alpha val="12000"/>
            </a:srgbClr>
          </a:solidFill>
          <a:ln w="8467">
            <a:solidFill>
              <a:srgbClr val="2DE2A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3" name="Text 41"/>
          <p:cNvSpPr/>
          <p:nvPr/>
        </p:nvSpPr>
        <p:spPr>
          <a:xfrm>
            <a:off x="14871171" y="5966883"/>
            <a:ext cx="2433108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4871171" y="6229350"/>
            <a:ext cx="243310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B9F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envío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04850"/>
            <a:ext cx="2420739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VERÍA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00667"/>
            <a:ext cx="6414655" cy="690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75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pantalla principal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4396641" y="1473200"/>
            <a:ext cx="32746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 · media fidelidad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019300"/>
            <a:ext cx="16459200" cy="7696200"/>
          </a:xfrm>
          <a:prstGeom prst="roundRect">
            <a:avLst>
              <a:gd name="adj" fmla="val 2228"/>
            </a:avLst>
          </a:prstGeom>
          <a:solidFill>
            <a:srgbClr val="E9ECF1"/>
          </a:solidFill>
          <a:ln/>
          <a:effectLst>
            <a:outerShdw blurRad="762000" dist="28575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6" name="Shape 4"/>
          <p:cNvSpPr/>
          <p:nvPr/>
        </p:nvSpPr>
        <p:spPr>
          <a:xfrm>
            <a:off x="1200150" y="2342092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C2C9D4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7" name="Shape 5"/>
          <p:cNvSpPr/>
          <p:nvPr/>
        </p:nvSpPr>
        <p:spPr>
          <a:xfrm>
            <a:off x="1638300" y="2427817"/>
            <a:ext cx="1238250" cy="152400"/>
          </a:xfrm>
          <a:prstGeom prst="roundRect">
            <a:avLst>
              <a:gd name="adj" fmla="val 31250"/>
            </a:avLst>
          </a:prstGeom>
          <a:solidFill>
            <a:srgbClr val="C2C9D4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8" name="Shape 6"/>
          <p:cNvSpPr/>
          <p:nvPr/>
        </p:nvSpPr>
        <p:spPr>
          <a:xfrm>
            <a:off x="8541676" y="2280805"/>
            <a:ext cx="2519230" cy="474133"/>
          </a:xfrm>
          <a:prstGeom prst="roundRect">
            <a:avLst>
              <a:gd name="adj" fmla="val 20089"/>
            </a:avLst>
          </a:prstGeom>
          <a:solidFill>
            <a:srgbClr val="DDE2EA"/>
          </a:solidFill>
          <a:ln w="8467">
            <a:solidFill>
              <a:srgbClr val="C2C9D4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9" name="Shape 7"/>
          <p:cNvSpPr/>
          <p:nvPr/>
        </p:nvSpPr>
        <p:spPr>
          <a:xfrm>
            <a:off x="8588243" y="2313517"/>
            <a:ext cx="1190360" cy="381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8467">
            <a:solidFill>
              <a:srgbClr val="B7BEC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0" name="Text 8"/>
          <p:cNvSpPr/>
          <p:nvPr/>
        </p:nvSpPr>
        <p:spPr>
          <a:xfrm>
            <a:off x="8806259" y="2398183"/>
            <a:ext cx="934244" cy="267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Codeflow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0026253" y="2389717"/>
            <a:ext cx="85473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Genérico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16725900" y="2323042"/>
            <a:ext cx="361950" cy="361950"/>
          </a:xfrm>
          <a:prstGeom prst="ellipse">
            <a:avLst/>
          </a:prstGeom>
          <a:solidFill>
            <a:srgbClr val="C2C9D4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13" name="Shape 11"/>
          <p:cNvSpPr/>
          <p:nvPr/>
        </p:nvSpPr>
        <p:spPr>
          <a:xfrm>
            <a:off x="1200150" y="2931583"/>
            <a:ext cx="15887700" cy="1769533"/>
          </a:xfrm>
          <a:prstGeom prst="roundRect">
            <a:avLst>
              <a:gd name="adj" fmla="val 6459"/>
            </a:avLst>
          </a:prstGeom>
          <a:solidFill>
            <a:srgbClr val="FFFFFF"/>
          </a:solidFill>
          <a:ln w="8467">
            <a:solidFill>
              <a:srgbClr val="D6DBE3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4" name="Shape 12"/>
          <p:cNvSpPr/>
          <p:nvPr/>
        </p:nvSpPr>
        <p:spPr>
          <a:xfrm>
            <a:off x="1437217" y="3149600"/>
            <a:ext cx="3238500" cy="133350"/>
          </a:xfrm>
          <a:prstGeom prst="roundRect">
            <a:avLst>
              <a:gd name="adj" fmla="val 35714"/>
            </a:avLst>
          </a:prstGeom>
          <a:solidFill>
            <a:srgbClr val="D6DBE3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15" name="Shape 13"/>
          <p:cNvSpPr/>
          <p:nvPr/>
        </p:nvSpPr>
        <p:spPr>
          <a:xfrm>
            <a:off x="1437217" y="3435350"/>
            <a:ext cx="14039586" cy="495300"/>
          </a:xfrm>
          <a:prstGeom prst="roundRect">
            <a:avLst>
              <a:gd name="adj" fmla="val 19231"/>
            </a:avLst>
          </a:prstGeom>
          <a:solidFill>
            <a:srgbClr val="F5F7FA"/>
          </a:solidFill>
          <a:ln w="8467">
            <a:solidFill>
              <a:srgbClr val="B7BEC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6" name="Shape 14"/>
          <p:cNvSpPr/>
          <p:nvPr/>
        </p:nvSpPr>
        <p:spPr>
          <a:xfrm>
            <a:off x="1617133" y="3625850"/>
            <a:ext cx="2667000" cy="114300"/>
          </a:xfrm>
          <a:prstGeom prst="roundRect">
            <a:avLst>
              <a:gd name="adj" fmla="val 41667"/>
            </a:avLst>
          </a:prstGeom>
          <a:solidFill>
            <a:srgbClr val="CDD3DC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17" name="Shape 15"/>
          <p:cNvSpPr/>
          <p:nvPr/>
        </p:nvSpPr>
        <p:spPr>
          <a:xfrm>
            <a:off x="15610152" y="3435350"/>
            <a:ext cx="1240631" cy="495300"/>
          </a:xfrm>
          <a:prstGeom prst="roundRect">
            <a:avLst>
              <a:gd name="adj" fmla="val 19231"/>
            </a:avLst>
          </a:prstGeom>
          <a:solidFill>
            <a:srgbClr val="3A3F4B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18" name="Text 16"/>
          <p:cNvSpPr/>
          <p:nvPr/>
        </p:nvSpPr>
        <p:spPr>
          <a:xfrm>
            <a:off x="15934002" y="3435350"/>
            <a:ext cx="73686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437217" y="4083050"/>
            <a:ext cx="1309026" cy="400050"/>
          </a:xfrm>
          <a:prstGeom prst="roundRect">
            <a:avLst>
              <a:gd name="adj" fmla="val 47619"/>
            </a:avLst>
          </a:prstGeom>
          <a:solidFill>
            <a:srgbClr val="F0F2F6"/>
          </a:solidFill>
          <a:ln w="8467">
            <a:solidFill>
              <a:srgbClr val="C2C9D4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0" name="Text 18"/>
          <p:cNvSpPr/>
          <p:nvPr/>
        </p:nvSpPr>
        <p:spPr>
          <a:xfrm>
            <a:off x="1617133" y="4177242"/>
            <a:ext cx="1025393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Ubicación ▾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2860543" y="4083050"/>
            <a:ext cx="1284817" cy="400050"/>
          </a:xfrm>
          <a:prstGeom prst="roundRect">
            <a:avLst>
              <a:gd name="adj" fmla="val 47619"/>
            </a:avLst>
          </a:prstGeom>
          <a:solidFill>
            <a:srgbClr val="F0F2F6"/>
          </a:solidFill>
          <a:ln w="8467">
            <a:solidFill>
              <a:srgbClr val="C2C9D4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2" name="Text 20"/>
          <p:cNvSpPr/>
          <p:nvPr/>
        </p:nvSpPr>
        <p:spPr>
          <a:xfrm>
            <a:off x="3040460" y="4177242"/>
            <a:ext cx="1001183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Categoría ▾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4259659" y="4083050"/>
            <a:ext cx="1302941" cy="400050"/>
          </a:xfrm>
          <a:prstGeom prst="roundRect">
            <a:avLst>
              <a:gd name="adj" fmla="val 47619"/>
            </a:avLst>
          </a:prstGeom>
          <a:solidFill>
            <a:srgbClr val="F0F2F6"/>
          </a:solidFill>
          <a:ln w="8467">
            <a:solidFill>
              <a:srgbClr val="C2C9D4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4" name="Text 22"/>
          <p:cNvSpPr/>
          <p:nvPr/>
        </p:nvSpPr>
        <p:spPr>
          <a:xfrm>
            <a:off x="4439576" y="4177242"/>
            <a:ext cx="1019307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email ▾</a:t>
            </a:r>
            <a:endParaRPr lang="en-US" sz="1275" dirty="0"/>
          </a:p>
        </p:txBody>
      </p:sp>
      <p:sp>
        <p:nvSpPr>
          <p:cNvPr id="25" name="Shape 23"/>
          <p:cNvSpPr/>
          <p:nvPr/>
        </p:nvSpPr>
        <p:spPr>
          <a:xfrm>
            <a:off x="1200150" y="4986867"/>
            <a:ext cx="1714500" cy="133350"/>
          </a:xfrm>
          <a:prstGeom prst="roundRect">
            <a:avLst>
              <a:gd name="adj" fmla="val 35714"/>
            </a:avLst>
          </a:prstGeom>
          <a:solidFill>
            <a:srgbClr val="C2C9D4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26" name="Shape 24"/>
          <p:cNvSpPr/>
          <p:nvPr/>
        </p:nvSpPr>
        <p:spPr>
          <a:xfrm>
            <a:off x="3048000" y="4917017"/>
            <a:ext cx="1998398" cy="273050"/>
          </a:xfrm>
          <a:prstGeom prst="roundRect">
            <a:avLst>
              <a:gd name="adj" fmla="val 48837"/>
            </a:avLst>
          </a:prstGeom>
          <a:solidFill>
            <a:srgbClr val="D6DBE3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27" name="Text 25"/>
          <p:cNvSpPr/>
          <p:nvPr/>
        </p:nvSpPr>
        <p:spPr>
          <a:xfrm>
            <a:off x="3181350" y="4964642"/>
            <a:ext cx="1807898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6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leads · 92 con email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5944850" y="4891617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F0F2F6"/>
          </a:solidFill>
          <a:ln w="8467">
            <a:solidFill>
              <a:srgbClr val="C2C9D4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9" name="Text 27"/>
          <p:cNvSpPr/>
          <p:nvPr/>
        </p:nvSpPr>
        <p:spPr>
          <a:xfrm>
            <a:off x="15915217" y="4900083"/>
            <a:ext cx="1202267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200150" y="5405967"/>
            <a:ext cx="15887700" cy="4061883"/>
          </a:xfrm>
          <a:prstGeom prst="roundRect">
            <a:avLst>
              <a:gd name="adj" fmla="val 2814"/>
            </a:avLst>
          </a:prstGeom>
          <a:solidFill>
            <a:srgbClr val="FFFFFF"/>
          </a:solidFill>
          <a:ln w="8467">
            <a:solidFill>
              <a:srgbClr val="D6DBE3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1" name="Shape 29"/>
          <p:cNvSpPr/>
          <p:nvPr/>
        </p:nvSpPr>
        <p:spPr>
          <a:xfrm>
            <a:off x="1208617" y="5414433"/>
            <a:ext cx="15870767" cy="491067"/>
          </a:xfrm>
          <a:prstGeom prst="rect">
            <a:avLst/>
          </a:prstGeom>
          <a:solidFill>
            <a:srgbClr val="F0F2F6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32" name="Shape 30"/>
          <p:cNvSpPr/>
          <p:nvPr/>
        </p:nvSpPr>
        <p:spPr>
          <a:xfrm>
            <a:off x="1208617" y="5897033"/>
            <a:ext cx="15870767" cy="9525"/>
          </a:xfrm>
          <a:prstGeom prst="rect">
            <a:avLst/>
          </a:prstGeom>
          <a:solidFill>
            <a:srgbClr val="D6DBE3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33" name="Text 31"/>
          <p:cNvSpPr/>
          <p:nvPr/>
        </p:nvSpPr>
        <p:spPr>
          <a:xfrm>
            <a:off x="1951567" y="5566833"/>
            <a:ext cx="471312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50529" y="5566833"/>
            <a:ext cx="274947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Categoría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964348" y="5566833"/>
            <a:ext cx="274932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Ubicación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578034" y="5566833"/>
            <a:ext cx="353499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4905963" y="5566833"/>
            <a:ext cx="216011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208617" y="6512983"/>
            <a:ext cx="15870767" cy="9525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39" name="Shape 37"/>
          <p:cNvSpPr/>
          <p:nvPr/>
        </p:nvSpPr>
        <p:spPr>
          <a:xfrm>
            <a:off x="1418167" y="6123517"/>
            <a:ext cx="171450" cy="171450"/>
          </a:xfrm>
          <a:prstGeom prst="roundRect">
            <a:avLst>
              <a:gd name="adj" fmla="val 22222"/>
            </a:avLst>
          </a:prstGeom>
          <a:ln w="8467">
            <a:solidFill>
              <a:srgbClr val="B7BEC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0" name="Shape 38"/>
          <p:cNvSpPr/>
          <p:nvPr/>
        </p:nvSpPr>
        <p:spPr>
          <a:xfrm>
            <a:off x="1951567" y="6152092"/>
            <a:ext cx="3513402" cy="114300"/>
          </a:xfrm>
          <a:prstGeom prst="roundRect">
            <a:avLst>
              <a:gd name="adj" fmla="val 41667"/>
            </a:avLst>
          </a:prstGeom>
          <a:solidFill>
            <a:srgbClr val="CDD3DC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41" name="Shape 39"/>
          <p:cNvSpPr/>
          <p:nvPr/>
        </p:nvSpPr>
        <p:spPr>
          <a:xfrm>
            <a:off x="6350529" y="6152092"/>
            <a:ext cx="1749557" cy="114300"/>
          </a:xfrm>
          <a:prstGeom prst="roundRect">
            <a:avLst>
              <a:gd name="adj" fmla="val 41667"/>
            </a:avLst>
          </a:prstGeom>
          <a:solidFill>
            <a:srgbClr val="DEE2E9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42" name="Shape 40"/>
          <p:cNvSpPr/>
          <p:nvPr/>
        </p:nvSpPr>
        <p:spPr>
          <a:xfrm>
            <a:off x="8964348" y="6152092"/>
            <a:ext cx="1599539" cy="114300"/>
          </a:xfrm>
          <a:prstGeom prst="roundRect">
            <a:avLst>
              <a:gd name="adj" fmla="val 41667"/>
            </a:avLst>
          </a:prstGeom>
          <a:solidFill>
            <a:srgbClr val="DEE2E9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43" name="Shape 41"/>
          <p:cNvSpPr/>
          <p:nvPr/>
        </p:nvSpPr>
        <p:spPr>
          <a:xfrm>
            <a:off x="11578034" y="6152092"/>
            <a:ext cx="2892160" cy="114300"/>
          </a:xfrm>
          <a:prstGeom prst="roundRect">
            <a:avLst>
              <a:gd name="adj" fmla="val 41667"/>
            </a:avLst>
          </a:prstGeom>
          <a:solidFill>
            <a:srgbClr val="CDD3DC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44" name="Shape 42"/>
          <p:cNvSpPr/>
          <p:nvPr/>
        </p:nvSpPr>
        <p:spPr>
          <a:xfrm>
            <a:off x="14905963" y="6076950"/>
            <a:ext cx="901039" cy="264583"/>
          </a:xfrm>
          <a:prstGeom prst="roundRect">
            <a:avLst>
              <a:gd name="adj" fmla="val 43200"/>
            </a:avLst>
          </a:prstGeom>
          <a:solidFill>
            <a:srgbClr val="D8EBE1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45" name="Text 43"/>
          <p:cNvSpPr/>
          <p:nvPr/>
        </p:nvSpPr>
        <p:spPr>
          <a:xfrm>
            <a:off x="15020263" y="6124575"/>
            <a:ext cx="748639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F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email</a:t>
            </a:r>
            <a:endParaRPr lang="en-US" sz="1125" dirty="0"/>
          </a:p>
        </p:txBody>
      </p:sp>
      <p:sp>
        <p:nvSpPr>
          <p:cNvPr id="46" name="Shape 44"/>
          <p:cNvSpPr/>
          <p:nvPr/>
        </p:nvSpPr>
        <p:spPr>
          <a:xfrm>
            <a:off x="1208617" y="7128934"/>
            <a:ext cx="15870767" cy="9525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47" name="Shape 45"/>
          <p:cNvSpPr/>
          <p:nvPr/>
        </p:nvSpPr>
        <p:spPr>
          <a:xfrm>
            <a:off x="1418167" y="6739467"/>
            <a:ext cx="171450" cy="171450"/>
          </a:xfrm>
          <a:prstGeom prst="roundRect">
            <a:avLst>
              <a:gd name="adj" fmla="val 22222"/>
            </a:avLst>
          </a:prstGeom>
          <a:ln w="8467">
            <a:solidFill>
              <a:srgbClr val="B7BEC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8" name="Shape 46"/>
          <p:cNvSpPr/>
          <p:nvPr/>
        </p:nvSpPr>
        <p:spPr>
          <a:xfrm>
            <a:off x="1951567" y="6768042"/>
            <a:ext cx="3170634" cy="114300"/>
          </a:xfrm>
          <a:prstGeom prst="roundRect">
            <a:avLst>
              <a:gd name="adj" fmla="val 41667"/>
            </a:avLst>
          </a:prstGeom>
          <a:solidFill>
            <a:srgbClr val="CDD3DC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49" name="Shape 47"/>
          <p:cNvSpPr/>
          <p:nvPr/>
        </p:nvSpPr>
        <p:spPr>
          <a:xfrm>
            <a:off x="6350529" y="6768042"/>
            <a:ext cx="1649677" cy="114300"/>
          </a:xfrm>
          <a:prstGeom prst="roundRect">
            <a:avLst>
              <a:gd name="adj" fmla="val 41667"/>
            </a:avLst>
          </a:prstGeom>
          <a:solidFill>
            <a:srgbClr val="DEE2E9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50" name="Shape 48"/>
          <p:cNvSpPr/>
          <p:nvPr/>
        </p:nvSpPr>
        <p:spPr>
          <a:xfrm>
            <a:off x="8964348" y="6768042"/>
            <a:ext cx="1449520" cy="114300"/>
          </a:xfrm>
          <a:prstGeom prst="roundRect">
            <a:avLst>
              <a:gd name="adj" fmla="val 41667"/>
            </a:avLst>
          </a:prstGeom>
          <a:solidFill>
            <a:srgbClr val="DEE2E9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51" name="Shape 49"/>
          <p:cNvSpPr/>
          <p:nvPr/>
        </p:nvSpPr>
        <p:spPr>
          <a:xfrm>
            <a:off x="11578034" y="6768042"/>
            <a:ext cx="2570824" cy="114300"/>
          </a:xfrm>
          <a:prstGeom prst="roundRect">
            <a:avLst>
              <a:gd name="adj" fmla="val 41667"/>
            </a:avLst>
          </a:prstGeom>
          <a:solidFill>
            <a:srgbClr val="CDD3DC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52" name="Shape 50"/>
          <p:cNvSpPr/>
          <p:nvPr/>
        </p:nvSpPr>
        <p:spPr>
          <a:xfrm>
            <a:off x="14905963" y="6692900"/>
            <a:ext cx="901039" cy="264583"/>
          </a:xfrm>
          <a:prstGeom prst="roundRect">
            <a:avLst>
              <a:gd name="adj" fmla="val 43200"/>
            </a:avLst>
          </a:prstGeom>
          <a:solidFill>
            <a:srgbClr val="D8EBE1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53" name="Text 51"/>
          <p:cNvSpPr/>
          <p:nvPr/>
        </p:nvSpPr>
        <p:spPr>
          <a:xfrm>
            <a:off x="15020263" y="6740525"/>
            <a:ext cx="748639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F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email</a:t>
            </a:r>
            <a:endParaRPr lang="en-US" sz="1125" dirty="0"/>
          </a:p>
        </p:txBody>
      </p:sp>
      <p:sp>
        <p:nvSpPr>
          <p:cNvPr id="54" name="Shape 52"/>
          <p:cNvSpPr/>
          <p:nvPr/>
        </p:nvSpPr>
        <p:spPr>
          <a:xfrm>
            <a:off x="1208617" y="7744883"/>
            <a:ext cx="15870767" cy="9525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55" name="Shape 53"/>
          <p:cNvSpPr/>
          <p:nvPr/>
        </p:nvSpPr>
        <p:spPr>
          <a:xfrm>
            <a:off x="1418167" y="7355417"/>
            <a:ext cx="171450" cy="171450"/>
          </a:xfrm>
          <a:prstGeom prst="roundRect">
            <a:avLst>
              <a:gd name="adj" fmla="val 22222"/>
            </a:avLst>
          </a:prstGeom>
          <a:ln w="8467">
            <a:solidFill>
              <a:srgbClr val="B7BEC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6" name="Shape 54"/>
          <p:cNvSpPr/>
          <p:nvPr/>
        </p:nvSpPr>
        <p:spPr>
          <a:xfrm>
            <a:off x="1951567" y="7383992"/>
            <a:ext cx="3770445" cy="114300"/>
          </a:xfrm>
          <a:prstGeom prst="roundRect">
            <a:avLst>
              <a:gd name="adj" fmla="val 41667"/>
            </a:avLst>
          </a:prstGeom>
          <a:solidFill>
            <a:srgbClr val="CDD3DC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57" name="Shape 55"/>
          <p:cNvSpPr/>
          <p:nvPr/>
        </p:nvSpPr>
        <p:spPr>
          <a:xfrm>
            <a:off x="6350529" y="7383992"/>
            <a:ext cx="1799564" cy="114300"/>
          </a:xfrm>
          <a:prstGeom prst="roundRect">
            <a:avLst>
              <a:gd name="adj" fmla="val 41667"/>
            </a:avLst>
          </a:prstGeom>
          <a:solidFill>
            <a:srgbClr val="DEE2E9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58" name="Shape 56"/>
          <p:cNvSpPr/>
          <p:nvPr/>
        </p:nvSpPr>
        <p:spPr>
          <a:xfrm>
            <a:off x="8964348" y="7383992"/>
            <a:ext cx="1499526" cy="114300"/>
          </a:xfrm>
          <a:prstGeom prst="roundRect">
            <a:avLst>
              <a:gd name="adj" fmla="val 41667"/>
            </a:avLst>
          </a:prstGeom>
          <a:solidFill>
            <a:srgbClr val="DEE2E9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59" name="Shape 57"/>
          <p:cNvSpPr/>
          <p:nvPr/>
        </p:nvSpPr>
        <p:spPr>
          <a:xfrm>
            <a:off x="11578034" y="7383992"/>
            <a:ext cx="1606815" cy="114300"/>
          </a:xfrm>
          <a:prstGeom prst="roundRect">
            <a:avLst>
              <a:gd name="adj" fmla="val 41667"/>
            </a:avLst>
          </a:prstGeom>
          <a:solidFill>
            <a:srgbClr val="E4E7EC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60" name="Shape 58"/>
          <p:cNvSpPr/>
          <p:nvPr/>
        </p:nvSpPr>
        <p:spPr>
          <a:xfrm>
            <a:off x="14905963" y="7308850"/>
            <a:ext cx="837274" cy="264583"/>
          </a:xfrm>
          <a:prstGeom prst="roundRect">
            <a:avLst>
              <a:gd name="adj" fmla="val 43200"/>
            </a:avLst>
          </a:prstGeom>
          <a:solidFill>
            <a:srgbClr val="EAD9C2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61" name="Text 59"/>
          <p:cNvSpPr/>
          <p:nvPr/>
        </p:nvSpPr>
        <p:spPr>
          <a:xfrm>
            <a:off x="15020263" y="7356475"/>
            <a:ext cx="684874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email</a:t>
            </a:r>
            <a:endParaRPr lang="en-US" sz="1125" dirty="0"/>
          </a:p>
        </p:txBody>
      </p:sp>
      <p:sp>
        <p:nvSpPr>
          <p:cNvPr id="62" name="Shape 60"/>
          <p:cNvSpPr/>
          <p:nvPr/>
        </p:nvSpPr>
        <p:spPr>
          <a:xfrm>
            <a:off x="1418167" y="7971367"/>
            <a:ext cx="171450" cy="171450"/>
          </a:xfrm>
          <a:prstGeom prst="roundRect">
            <a:avLst>
              <a:gd name="adj" fmla="val 22222"/>
            </a:avLst>
          </a:prstGeom>
          <a:ln w="8467">
            <a:solidFill>
              <a:srgbClr val="B7BEC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63" name="Shape 61"/>
          <p:cNvSpPr/>
          <p:nvPr/>
        </p:nvSpPr>
        <p:spPr>
          <a:xfrm>
            <a:off x="1951567" y="7999942"/>
            <a:ext cx="3341952" cy="114300"/>
          </a:xfrm>
          <a:prstGeom prst="roundRect">
            <a:avLst>
              <a:gd name="adj" fmla="val 41667"/>
            </a:avLst>
          </a:prstGeom>
          <a:solidFill>
            <a:srgbClr val="CDD3DC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64" name="Shape 62"/>
          <p:cNvSpPr/>
          <p:nvPr/>
        </p:nvSpPr>
        <p:spPr>
          <a:xfrm>
            <a:off x="6350529" y="7999942"/>
            <a:ext cx="1599671" cy="114300"/>
          </a:xfrm>
          <a:prstGeom prst="roundRect">
            <a:avLst>
              <a:gd name="adj" fmla="val 41667"/>
            </a:avLst>
          </a:prstGeom>
          <a:solidFill>
            <a:srgbClr val="DEE2E9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65" name="Shape 63"/>
          <p:cNvSpPr/>
          <p:nvPr/>
        </p:nvSpPr>
        <p:spPr>
          <a:xfrm>
            <a:off x="8964348" y="7999942"/>
            <a:ext cx="1399646" cy="114300"/>
          </a:xfrm>
          <a:prstGeom prst="roundRect">
            <a:avLst>
              <a:gd name="adj" fmla="val 41667"/>
            </a:avLst>
          </a:prstGeom>
          <a:solidFill>
            <a:srgbClr val="DEE2E9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66" name="Shape 64"/>
          <p:cNvSpPr/>
          <p:nvPr/>
        </p:nvSpPr>
        <p:spPr>
          <a:xfrm>
            <a:off x="11578034" y="7999942"/>
            <a:ext cx="2763705" cy="114300"/>
          </a:xfrm>
          <a:prstGeom prst="roundRect">
            <a:avLst>
              <a:gd name="adj" fmla="val 41667"/>
            </a:avLst>
          </a:prstGeom>
          <a:solidFill>
            <a:srgbClr val="CDD3DC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67" name="Shape 65"/>
          <p:cNvSpPr/>
          <p:nvPr/>
        </p:nvSpPr>
        <p:spPr>
          <a:xfrm>
            <a:off x="14905963" y="7924800"/>
            <a:ext cx="901039" cy="264583"/>
          </a:xfrm>
          <a:prstGeom prst="roundRect">
            <a:avLst>
              <a:gd name="adj" fmla="val 43200"/>
            </a:avLst>
          </a:prstGeom>
          <a:solidFill>
            <a:srgbClr val="D8EBE1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68" name="Text 66"/>
          <p:cNvSpPr/>
          <p:nvPr/>
        </p:nvSpPr>
        <p:spPr>
          <a:xfrm>
            <a:off x="15020263" y="7972425"/>
            <a:ext cx="748639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F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email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04850"/>
            <a:ext cx="2420739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VERÍA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00667"/>
            <a:ext cx="4606899" cy="690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75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 búsqueda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4396641" y="1473200"/>
            <a:ext cx="32746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 · media fidelidad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019300"/>
            <a:ext cx="16459200" cy="7696200"/>
          </a:xfrm>
          <a:prstGeom prst="roundRect">
            <a:avLst>
              <a:gd name="adj" fmla="val 2228"/>
            </a:avLst>
          </a:prstGeom>
          <a:solidFill>
            <a:srgbClr val="E9ECF1"/>
          </a:solidFill>
          <a:ln/>
          <a:effectLst>
            <a:outerShdw blurRad="762000" dist="28575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6" name="Shape 4"/>
          <p:cNvSpPr/>
          <p:nvPr/>
        </p:nvSpPr>
        <p:spPr>
          <a:xfrm>
            <a:off x="1200150" y="2342092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C2C9D4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7" name="Shape 5"/>
          <p:cNvSpPr/>
          <p:nvPr/>
        </p:nvSpPr>
        <p:spPr>
          <a:xfrm>
            <a:off x="1638300" y="2427817"/>
            <a:ext cx="1238250" cy="152400"/>
          </a:xfrm>
          <a:prstGeom prst="roundRect">
            <a:avLst>
              <a:gd name="adj" fmla="val 31250"/>
            </a:avLst>
          </a:prstGeom>
          <a:solidFill>
            <a:srgbClr val="C2C9D4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8" name="Shape 6"/>
          <p:cNvSpPr/>
          <p:nvPr/>
        </p:nvSpPr>
        <p:spPr>
          <a:xfrm>
            <a:off x="8530431" y="2266950"/>
            <a:ext cx="2541588" cy="474133"/>
          </a:xfrm>
          <a:prstGeom prst="roundRect">
            <a:avLst>
              <a:gd name="adj" fmla="val 20089"/>
            </a:avLst>
          </a:prstGeom>
          <a:solidFill>
            <a:srgbClr val="DDE2EA"/>
          </a:solidFill>
          <a:ln w="8467">
            <a:solidFill>
              <a:srgbClr val="C2C9D4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9" name="Text 7"/>
          <p:cNvSpPr/>
          <p:nvPr/>
        </p:nvSpPr>
        <p:spPr>
          <a:xfrm>
            <a:off x="8786548" y="2389717"/>
            <a:ext cx="8972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Codeflow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9855200" y="2313517"/>
            <a:ext cx="1170252" cy="381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8467">
            <a:solidFill>
              <a:srgbClr val="B7BEC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1" name="Text 9"/>
          <p:cNvSpPr/>
          <p:nvPr/>
        </p:nvSpPr>
        <p:spPr>
          <a:xfrm>
            <a:off x="10073216" y="2398183"/>
            <a:ext cx="935303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Genérico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16725900" y="2323042"/>
            <a:ext cx="361950" cy="361950"/>
          </a:xfrm>
          <a:prstGeom prst="ellipse">
            <a:avLst/>
          </a:prstGeom>
          <a:solidFill>
            <a:srgbClr val="C2C9D4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13" name="Text 11"/>
          <p:cNvSpPr/>
          <p:nvPr/>
        </p:nvSpPr>
        <p:spPr>
          <a:xfrm>
            <a:off x="3524250" y="4672542"/>
            <a:ext cx="123634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producto quieres vender?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3524250" y="5161492"/>
            <a:ext cx="112395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467">
            <a:solidFill>
              <a:srgbClr val="B7BEC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5" name="Text 13"/>
          <p:cNvSpPr/>
          <p:nvPr/>
        </p:nvSpPr>
        <p:spPr>
          <a:xfrm>
            <a:off x="3761317" y="5169959"/>
            <a:ext cx="11102552" cy="745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ej: automatización de contratos legales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524250" y="6094942"/>
            <a:ext cx="6456362" cy="850900"/>
          </a:xfrm>
          <a:prstGeom prst="roundRect">
            <a:avLst>
              <a:gd name="adj" fmla="val 13433"/>
            </a:avLst>
          </a:prstGeom>
          <a:solidFill>
            <a:srgbClr val="FFFFFF"/>
          </a:solidFill>
          <a:ln w="8467">
            <a:solidFill>
              <a:srgbClr val="C2C9D4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7" name="Text 15"/>
          <p:cNvSpPr/>
          <p:nvPr/>
        </p:nvSpPr>
        <p:spPr>
          <a:xfrm>
            <a:off x="3742267" y="6274858"/>
            <a:ext cx="662236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CATEGORÍA SUGERIDA POR LA 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42267" y="6609292"/>
            <a:ext cx="76200" cy="76200"/>
          </a:xfrm>
          <a:prstGeom prst="ellipse">
            <a:avLst/>
          </a:prstGeom>
          <a:solidFill>
            <a:srgbClr val="9AA1AD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19" name="Text 17"/>
          <p:cNvSpPr/>
          <p:nvPr/>
        </p:nvSpPr>
        <p:spPr>
          <a:xfrm>
            <a:off x="3913717" y="6528858"/>
            <a:ext cx="2101466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Firmas de abogados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919390" y="6537325"/>
            <a:ext cx="219472" cy="258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0152063" y="6094942"/>
            <a:ext cx="4611687" cy="850900"/>
          </a:xfrm>
          <a:prstGeom prst="roundRect">
            <a:avLst>
              <a:gd name="adj" fmla="val 13433"/>
            </a:avLst>
          </a:prstGeom>
          <a:solidFill>
            <a:srgbClr val="FFFFFF"/>
          </a:solidFill>
          <a:ln w="8467">
            <a:solidFill>
              <a:srgbClr val="C2C9D4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2" name="Text 20"/>
          <p:cNvSpPr/>
          <p:nvPr/>
        </p:nvSpPr>
        <p:spPr>
          <a:xfrm>
            <a:off x="10370080" y="6274858"/>
            <a:ext cx="459322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UBICACIÓN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370080" y="6528858"/>
            <a:ext cx="856721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Panamá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1245850" y="6537325"/>
            <a:ext cx="219472" cy="258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3524250" y="7212542"/>
            <a:ext cx="2350294" cy="571500"/>
          </a:xfrm>
          <a:prstGeom prst="roundRect">
            <a:avLst>
              <a:gd name="adj" fmla="val 20000"/>
            </a:avLst>
          </a:prstGeom>
          <a:solidFill>
            <a:srgbClr val="2DE2A6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26" name="Text 24"/>
          <p:cNvSpPr/>
          <p:nvPr/>
        </p:nvSpPr>
        <p:spPr>
          <a:xfrm>
            <a:off x="3924300" y="7212542"/>
            <a:ext cx="162639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8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clientes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084094" y="7383992"/>
            <a:ext cx="424178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sugiere a quién venderle el producto.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04850"/>
            <a:ext cx="331001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CONTROL HUMANO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00667"/>
            <a:ext cx="5181997" cy="690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75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del correo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4396641" y="1473200"/>
            <a:ext cx="32746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 · media fidelidad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019300"/>
            <a:ext cx="16459200" cy="7696200"/>
          </a:xfrm>
          <a:prstGeom prst="roundRect">
            <a:avLst>
              <a:gd name="adj" fmla="val 2228"/>
            </a:avLst>
          </a:prstGeom>
          <a:solidFill>
            <a:srgbClr val="E9ECF1"/>
          </a:solidFill>
          <a:ln/>
          <a:effectLst>
            <a:outerShdw blurRad="762000" dist="28575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6" name="Text 4"/>
          <p:cNvSpPr/>
          <p:nvPr/>
        </p:nvSpPr>
        <p:spPr>
          <a:xfrm>
            <a:off x="1200150" y="2312458"/>
            <a:ext cx="3327189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· 1 de 24 pendientes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77267" y="2405592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CDD3DC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8" name="Shape 6"/>
          <p:cNvSpPr/>
          <p:nvPr/>
        </p:nvSpPr>
        <p:spPr>
          <a:xfrm>
            <a:off x="13997782" y="2266950"/>
            <a:ext cx="3090069" cy="353483"/>
          </a:xfrm>
          <a:prstGeom prst="roundRect">
            <a:avLst>
              <a:gd name="adj" fmla="val 37725"/>
            </a:avLst>
          </a:prstGeom>
          <a:solidFill>
            <a:srgbClr val="D8EBE1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9" name="Text 7"/>
          <p:cNvSpPr/>
          <p:nvPr/>
        </p:nvSpPr>
        <p:spPr>
          <a:xfrm>
            <a:off x="14150182" y="2333625"/>
            <a:ext cx="309006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F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se envía sin tu aprobación.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200150" y="2810933"/>
            <a:ext cx="6037262" cy="5933017"/>
          </a:xfrm>
          <a:prstGeom prst="roundRect">
            <a:avLst>
              <a:gd name="adj" fmla="val 1927"/>
            </a:avLst>
          </a:prstGeom>
          <a:solidFill>
            <a:srgbClr val="FFFFFF"/>
          </a:solidFill>
          <a:ln w="8467">
            <a:solidFill>
              <a:srgbClr val="D6DBE3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1" name="Text 9"/>
          <p:cNvSpPr/>
          <p:nvPr/>
        </p:nvSpPr>
        <p:spPr>
          <a:xfrm>
            <a:off x="1456267" y="3048000"/>
            <a:ext cx="607753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DEL LEAD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56267" y="3435350"/>
            <a:ext cx="3867415" cy="190500"/>
          </a:xfrm>
          <a:prstGeom prst="roundRect">
            <a:avLst>
              <a:gd name="adj" fmla="val 25000"/>
            </a:avLst>
          </a:prstGeom>
          <a:solidFill>
            <a:srgbClr val="C2C9D4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13" name="Text 11"/>
          <p:cNvSpPr/>
          <p:nvPr/>
        </p:nvSpPr>
        <p:spPr>
          <a:xfrm>
            <a:off x="1456267" y="3835400"/>
            <a:ext cx="607753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Categoría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456267" y="4070350"/>
            <a:ext cx="3038740" cy="114300"/>
          </a:xfrm>
          <a:prstGeom prst="roundRect">
            <a:avLst>
              <a:gd name="adj" fmla="val 41667"/>
            </a:avLst>
          </a:prstGeom>
          <a:solidFill>
            <a:srgbClr val="DEE2E9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15" name="Text 13"/>
          <p:cNvSpPr/>
          <p:nvPr/>
        </p:nvSpPr>
        <p:spPr>
          <a:xfrm>
            <a:off x="1456267" y="4337050"/>
            <a:ext cx="607753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56267" y="4572000"/>
            <a:ext cx="60775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info@bufete-ejemplo.pa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56267" y="4953000"/>
            <a:ext cx="607753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456267" y="5187950"/>
            <a:ext cx="3425428" cy="114300"/>
          </a:xfrm>
          <a:prstGeom prst="roundRect">
            <a:avLst>
              <a:gd name="adj" fmla="val 41667"/>
            </a:avLst>
          </a:prstGeom>
          <a:solidFill>
            <a:srgbClr val="DEE2E9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19" name="Shape 17"/>
          <p:cNvSpPr/>
          <p:nvPr/>
        </p:nvSpPr>
        <p:spPr>
          <a:xfrm>
            <a:off x="7427912" y="2810933"/>
            <a:ext cx="9659938" cy="5933017"/>
          </a:xfrm>
          <a:prstGeom prst="roundRect">
            <a:avLst>
              <a:gd name="adj" fmla="val 1927"/>
            </a:avLst>
          </a:prstGeom>
          <a:solidFill>
            <a:srgbClr val="FFFFFF"/>
          </a:solidFill>
          <a:ln w="8467">
            <a:solidFill>
              <a:srgbClr val="D6DBE3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0" name="Text 18"/>
          <p:cNvSpPr/>
          <p:nvPr/>
        </p:nvSpPr>
        <p:spPr>
          <a:xfrm>
            <a:off x="7684029" y="3048000"/>
            <a:ext cx="1006247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CORREO REDACTADO · EDITABLE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84029" y="3378200"/>
            <a:ext cx="1006247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Asunto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84029" y="3613150"/>
            <a:ext cx="9147704" cy="457200"/>
          </a:xfrm>
          <a:prstGeom prst="roundRect">
            <a:avLst>
              <a:gd name="adj" fmla="val 18750"/>
            </a:avLst>
          </a:prstGeom>
          <a:solidFill>
            <a:srgbClr val="F5F7FA"/>
          </a:solidFill>
          <a:ln w="8467">
            <a:solidFill>
              <a:srgbClr val="B7BEC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3" name="Shape 21"/>
          <p:cNvSpPr/>
          <p:nvPr/>
        </p:nvSpPr>
        <p:spPr>
          <a:xfrm>
            <a:off x="7844896" y="3784600"/>
            <a:ext cx="4589463" cy="114300"/>
          </a:xfrm>
          <a:prstGeom prst="roundRect">
            <a:avLst>
              <a:gd name="adj" fmla="val 41667"/>
            </a:avLst>
          </a:prstGeom>
          <a:solidFill>
            <a:srgbClr val="CDD3DC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24" name="Shape 22"/>
          <p:cNvSpPr/>
          <p:nvPr/>
        </p:nvSpPr>
        <p:spPr>
          <a:xfrm>
            <a:off x="7684029" y="4222750"/>
            <a:ext cx="9147704" cy="4284133"/>
          </a:xfrm>
          <a:prstGeom prst="roundRect">
            <a:avLst>
              <a:gd name="adj" fmla="val 2001"/>
            </a:avLst>
          </a:prstGeom>
          <a:solidFill>
            <a:srgbClr val="F5F7FA"/>
          </a:solidFill>
          <a:ln w="8467">
            <a:solidFill>
              <a:srgbClr val="B7BEC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5" name="Shape 23"/>
          <p:cNvSpPr/>
          <p:nvPr/>
        </p:nvSpPr>
        <p:spPr>
          <a:xfrm>
            <a:off x="7863946" y="4383617"/>
            <a:ext cx="7733242" cy="104775"/>
          </a:xfrm>
          <a:prstGeom prst="roundRect">
            <a:avLst>
              <a:gd name="adj" fmla="val 45455"/>
            </a:avLst>
          </a:prstGeom>
          <a:solidFill>
            <a:srgbClr val="DEE2E9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26" name="Shape 24"/>
          <p:cNvSpPr/>
          <p:nvPr/>
        </p:nvSpPr>
        <p:spPr>
          <a:xfrm>
            <a:off x="7863946" y="4602692"/>
            <a:ext cx="8260556" cy="104775"/>
          </a:xfrm>
          <a:prstGeom prst="roundRect">
            <a:avLst>
              <a:gd name="adj" fmla="val 45455"/>
            </a:avLst>
          </a:prstGeom>
          <a:solidFill>
            <a:srgbClr val="DEE2E9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27" name="Shape 25"/>
          <p:cNvSpPr/>
          <p:nvPr/>
        </p:nvSpPr>
        <p:spPr>
          <a:xfrm>
            <a:off x="7863946" y="4821767"/>
            <a:ext cx="7030244" cy="104775"/>
          </a:xfrm>
          <a:prstGeom prst="roundRect">
            <a:avLst>
              <a:gd name="adj" fmla="val 45455"/>
            </a:avLst>
          </a:prstGeom>
          <a:solidFill>
            <a:srgbClr val="DEE2E9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28" name="Shape 26"/>
          <p:cNvSpPr/>
          <p:nvPr/>
        </p:nvSpPr>
        <p:spPr>
          <a:xfrm>
            <a:off x="7863946" y="5040842"/>
            <a:ext cx="7909057" cy="104775"/>
          </a:xfrm>
          <a:prstGeom prst="roundRect">
            <a:avLst>
              <a:gd name="adj" fmla="val 45455"/>
            </a:avLst>
          </a:prstGeom>
          <a:solidFill>
            <a:srgbClr val="DEE2E9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29" name="Shape 27"/>
          <p:cNvSpPr/>
          <p:nvPr/>
        </p:nvSpPr>
        <p:spPr>
          <a:xfrm>
            <a:off x="7863946" y="5259917"/>
            <a:ext cx="4042304" cy="104775"/>
          </a:xfrm>
          <a:prstGeom prst="roundRect">
            <a:avLst>
              <a:gd name="adj" fmla="val 45455"/>
            </a:avLst>
          </a:prstGeom>
          <a:solidFill>
            <a:srgbClr val="DEE2E9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30" name="Shape 28"/>
          <p:cNvSpPr/>
          <p:nvPr/>
        </p:nvSpPr>
        <p:spPr>
          <a:xfrm>
            <a:off x="1200150" y="8934450"/>
            <a:ext cx="2185194" cy="533400"/>
          </a:xfrm>
          <a:prstGeom prst="roundRect">
            <a:avLst>
              <a:gd name="adj" fmla="val 19643"/>
            </a:avLst>
          </a:prstGeom>
          <a:solidFill>
            <a:srgbClr val="2DE2A6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31" name="Text 29"/>
          <p:cNvSpPr/>
          <p:nvPr/>
        </p:nvSpPr>
        <p:spPr>
          <a:xfrm>
            <a:off x="1524000" y="8934450"/>
            <a:ext cx="161369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8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Aprobar y enviar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3518694" y="8934450"/>
            <a:ext cx="1159669" cy="533400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8467">
            <a:solidFill>
              <a:srgbClr val="B7BEC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3" name="Text 31"/>
          <p:cNvSpPr/>
          <p:nvPr/>
        </p:nvSpPr>
        <p:spPr>
          <a:xfrm>
            <a:off x="3812910" y="8942917"/>
            <a:ext cx="647435" cy="554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Editar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4811712" y="8934450"/>
            <a:ext cx="1560248" cy="533400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8467">
            <a:solidFill>
              <a:srgbClr val="D6BFBF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5" name="Text 33"/>
          <p:cNvSpPr/>
          <p:nvPr/>
        </p:nvSpPr>
        <p:spPr>
          <a:xfrm>
            <a:off x="5105929" y="8942917"/>
            <a:ext cx="1048015" cy="554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9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Descartar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04850"/>
            <a:ext cx="2420739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VERÍA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00667"/>
            <a:ext cx="4879314" cy="690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75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de un lead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4396641" y="1473200"/>
            <a:ext cx="32746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 · media fidelidad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019300"/>
            <a:ext cx="16459200" cy="7696200"/>
          </a:xfrm>
          <a:prstGeom prst="roundRect">
            <a:avLst>
              <a:gd name="adj" fmla="val 2228"/>
            </a:avLst>
          </a:prstGeom>
          <a:solidFill>
            <a:srgbClr val="E9ECF1"/>
          </a:solidFill>
          <a:ln/>
          <a:effectLst>
            <a:outerShdw blurRad="762000" dist="28575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6" name="Shape 4"/>
          <p:cNvSpPr/>
          <p:nvPr/>
        </p:nvSpPr>
        <p:spPr>
          <a:xfrm>
            <a:off x="1295400" y="234315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C2C9D4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7" name="Shape 5"/>
          <p:cNvSpPr/>
          <p:nvPr/>
        </p:nvSpPr>
        <p:spPr>
          <a:xfrm>
            <a:off x="1981200" y="2476500"/>
            <a:ext cx="3429000" cy="228600"/>
          </a:xfrm>
          <a:prstGeom prst="roundRect">
            <a:avLst>
              <a:gd name="adj" fmla="val 25000"/>
            </a:avLst>
          </a:prstGeom>
          <a:solidFill>
            <a:srgbClr val="B7BEC9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8" name="Shape 6"/>
          <p:cNvSpPr/>
          <p:nvPr/>
        </p:nvSpPr>
        <p:spPr>
          <a:xfrm>
            <a:off x="13401279" y="2400300"/>
            <a:ext cx="882915" cy="381000"/>
          </a:xfrm>
          <a:prstGeom prst="roundRect">
            <a:avLst>
              <a:gd name="adj" fmla="val 40000"/>
            </a:avLst>
          </a:prstGeom>
          <a:solidFill>
            <a:srgbClr val="DDE7F0"/>
          </a:solidFill>
          <a:ln w="8467">
            <a:solidFill>
              <a:srgbClr val="B9C7D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9" name="Text 7"/>
          <p:cNvSpPr/>
          <p:nvPr/>
        </p:nvSpPr>
        <p:spPr>
          <a:xfrm>
            <a:off x="13581195" y="2484967"/>
            <a:ext cx="599281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6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4379443" y="2400300"/>
            <a:ext cx="1301353" cy="381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8467">
            <a:solidFill>
              <a:srgbClr val="C2C9D4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1" name="Text 9"/>
          <p:cNvSpPr/>
          <p:nvPr/>
        </p:nvSpPr>
        <p:spPr>
          <a:xfrm>
            <a:off x="14559360" y="2484967"/>
            <a:ext cx="1017720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Contactado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5776046" y="2400300"/>
            <a:ext cx="1216554" cy="381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8467">
            <a:solidFill>
              <a:srgbClr val="C2C9D4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3" name="Text 11"/>
          <p:cNvSpPr/>
          <p:nvPr/>
        </p:nvSpPr>
        <p:spPr>
          <a:xfrm>
            <a:off x="15955963" y="2484967"/>
            <a:ext cx="932921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Respondió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295400" y="3124200"/>
            <a:ext cx="15697200" cy="542925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8467">
            <a:solidFill>
              <a:srgbClr val="D6DBE3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5" name="Text 13"/>
          <p:cNvSpPr/>
          <p:nvPr/>
        </p:nvSpPr>
        <p:spPr>
          <a:xfrm>
            <a:off x="1684867" y="5137150"/>
            <a:ext cx="505088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CATEGORÍA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84867" y="5410200"/>
            <a:ext cx="3673343" cy="133350"/>
          </a:xfrm>
          <a:prstGeom prst="roundRect">
            <a:avLst>
              <a:gd name="adj" fmla="val 35714"/>
            </a:avLst>
          </a:prstGeom>
          <a:solidFill>
            <a:srgbClr val="CDD3DC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17" name="Text 15"/>
          <p:cNvSpPr/>
          <p:nvPr/>
        </p:nvSpPr>
        <p:spPr>
          <a:xfrm>
            <a:off x="6848078" y="5137150"/>
            <a:ext cx="505088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UBICACIÓN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48078" y="5410200"/>
            <a:ext cx="3214158" cy="133350"/>
          </a:xfrm>
          <a:prstGeom prst="roundRect">
            <a:avLst>
              <a:gd name="adj" fmla="val 35714"/>
            </a:avLst>
          </a:prstGeom>
          <a:solidFill>
            <a:srgbClr val="CDD3DC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19" name="Text 17"/>
          <p:cNvSpPr/>
          <p:nvPr/>
        </p:nvSpPr>
        <p:spPr>
          <a:xfrm>
            <a:off x="12011290" y="5137150"/>
            <a:ext cx="505088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011290" y="5410200"/>
            <a:ext cx="505088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 ★ · 128 reseñas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684867" y="6013450"/>
            <a:ext cx="505088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84867" y="6286500"/>
            <a:ext cx="505088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info@bufete-ejemplo.pa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848078" y="6013450"/>
            <a:ext cx="505088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TELÉFONO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48078" y="6286500"/>
            <a:ext cx="2984500" cy="133350"/>
          </a:xfrm>
          <a:prstGeom prst="roundRect">
            <a:avLst>
              <a:gd name="adj" fmla="val 35714"/>
            </a:avLst>
          </a:prstGeom>
          <a:solidFill>
            <a:srgbClr val="CDD3DC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25" name="Text 23"/>
          <p:cNvSpPr/>
          <p:nvPr/>
        </p:nvSpPr>
        <p:spPr>
          <a:xfrm>
            <a:off x="12011290" y="6013450"/>
            <a:ext cx="505088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2011290" y="6286500"/>
            <a:ext cx="3581532" cy="133350"/>
          </a:xfrm>
          <a:prstGeom prst="roundRect">
            <a:avLst>
              <a:gd name="adj" fmla="val 35714"/>
            </a:avLst>
          </a:prstGeom>
          <a:solidFill>
            <a:srgbClr val="CDD3DC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27" name="Shape 25"/>
          <p:cNvSpPr/>
          <p:nvPr/>
        </p:nvSpPr>
        <p:spPr>
          <a:xfrm>
            <a:off x="14452864" y="8839200"/>
            <a:ext cx="2539735" cy="552450"/>
          </a:xfrm>
          <a:prstGeom prst="roundRect">
            <a:avLst>
              <a:gd name="adj" fmla="val 20690"/>
            </a:avLst>
          </a:prstGeom>
          <a:solidFill>
            <a:srgbClr val="2DE2A6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28" name="Text 26"/>
          <p:cNvSpPr/>
          <p:nvPr/>
        </p:nvSpPr>
        <p:spPr>
          <a:xfrm>
            <a:off x="14833864" y="8839200"/>
            <a:ext cx="185393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8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Añadir a campaña</a:t>
            </a:r>
            <a:endParaRPr lang="en-US" sz="17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QUÉ SE CONSTRUYE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05467"/>
            <a:ext cx="17602200" cy="82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y costos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650067"/>
            <a:ext cx="8982075" cy="728133"/>
          </a:xfrm>
          <a:prstGeom prst="roundRect">
            <a:avLst>
              <a:gd name="adj" fmla="val 15698"/>
            </a:avLst>
          </a:prstGeom>
          <a:solidFill>
            <a:srgbClr val="FFFFFF">
              <a:alpha val="4000"/>
            </a:srgbClr>
          </a:solidFill>
          <a:ln w="8467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" name="Text 3"/>
          <p:cNvSpPr/>
          <p:nvPr/>
        </p:nvSpPr>
        <p:spPr>
          <a:xfrm>
            <a:off x="1399117" y="2849033"/>
            <a:ext cx="270523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A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Descubrir negocios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918722" y="2849033"/>
            <a:ext cx="324526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Places API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3000" y="3511550"/>
            <a:ext cx="8982075" cy="728133"/>
          </a:xfrm>
          <a:prstGeom prst="roundRect">
            <a:avLst>
              <a:gd name="adj" fmla="val 15698"/>
            </a:avLst>
          </a:prstGeom>
          <a:solidFill>
            <a:srgbClr val="FFFFFF">
              <a:alpha val="4000"/>
            </a:srgbClr>
          </a:solidFill>
          <a:ln w="8467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8" name="Text 6"/>
          <p:cNvSpPr/>
          <p:nvPr/>
        </p:nvSpPr>
        <p:spPr>
          <a:xfrm>
            <a:off x="1399117" y="3710517"/>
            <a:ext cx="2355109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A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+ vacantes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1" y="3710517"/>
            <a:ext cx="801158" cy="2857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Apify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143000" y="4373033"/>
            <a:ext cx="8982075" cy="728133"/>
          </a:xfrm>
          <a:prstGeom prst="roundRect">
            <a:avLst>
              <a:gd name="adj" fmla="val 15698"/>
            </a:avLst>
          </a:prstGeom>
          <a:solidFill>
            <a:srgbClr val="FFFFFF">
              <a:alpha val="4000"/>
            </a:srgbClr>
          </a:solidFill>
          <a:ln w="8467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1" name="Text 9"/>
          <p:cNvSpPr/>
          <p:nvPr/>
        </p:nvSpPr>
        <p:spPr>
          <a:xfrm>
            <a:off x="1399117" y="4572000"/>
            <a:ext cx="1966569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A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002463" y="4572000"/>
            <a:ext cx="3153146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/ Supabase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43000" y="5234517"/>
            <a:ext cx="8982075" cy="728133"/>
          </a:xfrm>
          <a:prstGeom prst="roundRect">
            <a:avLst>
              <a:gd name="adj" fmla="val 15698"/>
            </a:avLst>
          </a:prstGeom>
          <a:solidFill>
            <a:srgbClr val="FFFFFF">
              <a:alpha val="4000"/>
            </a:srgbClr>
          </a:solidFill>
          <a:ln w="8467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4" name="Text 12"/>
          <p:cNvSpPr/>
          <p:nvPr/>
        </p:nvSpPr>
        <p:spPr>
          <a:xfrm>
            <a:off x="1399117" y="5433483"/>
            <a:ext cx="30370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A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Redacción de correos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267833" y="5433483"/>
            <a:ext cx="1761239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143000" y="6096000"/>
            <a:ext cx="8982075" cy="728133"/>
          </a:xfrm>
          <a:prstGeom prst="roundRect">
            <a:avLst>
              <a:gd name="adj" fmla="val 15698"/>
            </a:avLst>
          </a:prstGeom>
          <a:solidFill>
            <a:srgbClr val="FFFFFF">
              <a:alpha val="4000"/>
            </a:srgbClr>
          </a:solidFill>
          <a:ln w="8467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7" name="Text 15"/>
          <p:cNvSpPr/>
          <p:nvPr/>
        </p:nvSpPr>
        <p:spPr>
          <a:xfrm>
            <a:off x="1399117" y="6294967"/>
            <a:ext cx="1706377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A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/ CRM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555574" y="6294967"/>
            <a:ext cx="2544723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</a:t>
            </a:r>
            <a:r>
              <a:rPr lang="en-US" sz="2100" dirty="0">
                <a:solidFill>
                  <a:srgbClr val="6E7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(por definir)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0506075" y="2650067"/>
            <a:ext cx="6638925" cy="6836833"/>
          </a:xfrm>
          <a:prstGeom prst="roundRect">
            <a:avLst>
              <a:gd name="adj" fmla="val 2869"/>
            </a:avLst>
          </a:prstGeom>
          <a:gradFill rotWithShape="1">
            <a:gsLst>
              <a:gs pos="0">
                <a:srgbClr val="7C5CFF">
                  <a:alpha val="14000"/>
                </a:srgbClr>
              </a:gs>
              <a:gs pos="100000">
                <a:srgbClr val="2DE2A6">
                  <a:alpha val="8000"/>
                </a:srgbClr>
              </a:gs>
            </a:gsLst>
            <a:lin ang="4200000" scaled="0"/>
          </a:gradFill>
          <a:ln w="8467">
            <a:solidFill>
              <a:srgbClr val="7C5C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0" name="Text 18"/>
          <p:cNvSpPr/>
          <p:nvPr/>
        </p:nvSpPr>
        <p:spPr>
          <a:xfrm>
            <a:off x="10895542" y="3039533"/>
            <a:ext cx="6445991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B9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895542" y="3549650"/>
            <a:ext cx="644599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10895542" y="4216400"/>
            <a:ext cx="644599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7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IA para arrancar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895542" y="4743450"/>
            <a:ext cx="5859992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24" name="Text 22"/>
          <p:cNvSpPr/>
          <p:nvPr/>
        </p:nvSpPr>
        <p:spPr>
          <a:xfrm>
            <a:off x="10895542" y="5000625"/>
            <a:ext cx="6035791" cy="760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836"/>
              </a:lnSpc>
              <a:buNone/>
            </a:pPr>
            <a:r>
              <a:rPr lang="en-US" sz="1875" dirty="0">
                <a:solidFill>
                  <a:srgbClr val="C7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Apify: </a:t>
            </a:r>
            <a:r>
              <a:rPr lang="en-US" sz="1875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~$29–49/mes </a:t>
            </a:r>
            <a:r>
              <a:rPr lang="en-US" sz="1875" dirty="0">
                <a:solidFill>
                  <a:srgbClr val="C7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aparte. Google Maps: por request, con capa gratis.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0895542" y="5971117"/>
            <a:ext cx="6035791" cy="769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836"/>
              </a:lnSpc>
              <a:buNone/>
            </a:pPr>
            <a:r>
              <a:rPr lang="en-US" sz="1875" dirty="0">
                <a:solidFill>
                  <a:srgbClr val="C7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Redactar un correo: </a:t>
            </a:r>
            <a:r>
              <a:rPr lang="en-US" sz="1875" b="1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~medio centavo</a:t>
            </a:r>
            <a:r>
              <a:rPr lang="en-US" sz="1875" dirty="0">
                <a:solidFill>
                  <a:srgbClr val="C7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Costo por lead: </a:t>
            </a:r>
            <a:r>
              <a:rPr lang="en-US" sz="1875" b="1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centavos</a:t>
            </a:r>
            <a:r>
              <a:rPr lang="en-US" sz="1875" dirty="0">
                <a:solidFill>
                  <a:srgbClr val="C7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YA ESTÁ CLARO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05467"/>
            <a:ext cx="17602200" cy="82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y decisiones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650067"/>
            <a:ext cx="7810500" cy="6836833"/>
          </a:xfrm>
          <a:prstGeom prst="roundRect">
            <a:avLst>
              <a:gd name="adj" fmla="val 2786"/>
            </a:avLst>
          </a:prstGeom>
          <a:solidFill>
            <a:srgbClr val="FFFFFF">
              <a:alpha val="4000"/>
            </a:srgbClr>
          </a:solidFill>
          <a:ln w="8467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" name="Text 3"/>
          <p:cNvSpPr/>
          <p:nvPr/>
        </p:nvSpPr>
        <p:spPr>
          <a:xfrm>
            <a:off x="1570567" y="3039533"/>
            <a:ext cx="7650903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8FE9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· SOLO DATOS PÚBLICOS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70567" y="3549650"/>
            <a:ext cx="7164028" cy="838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490"/>
              </a:lnSpc>
              <a:buNone/>
            </a:pPr>
            <a:r>
              <a:rPr lang="en-US" sz="2175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información de </a:t>
            </a:r>
            <a:r>
              <a:rPr lang="en-US" sz="2175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público</a:t>
            </a:r>
            <a:r>
              <a:rPr lang="en-US" sz="2175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respetando la </a:t>
            </a:r>
            <a:r>
              <a:rPr lang="en-US" sz="2175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81 de Panamá</a:t>
            </a:r>
            <a:r>
              <a:rPr lang="en-US" sz="2175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1570567" y="4598194"/>
            <a:ext cx="7164028" cy="838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490"/>
              </a:lnSpc>
              <a:buNone/>
            </a:pPr>
            <a:r>
              <a:rPr lang="en-US" sz="2175" b="1" dirty="0">
                <a:solidFill>
                  <a:srgbClr val="FF8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scrapeamos LinkedIn </a:t>
            </a:r>
            <a:r>
              <a:rPr lang="en-US" sz="2175" dirty="0">
                <a:solidFill>
                  <a:srgbClr val="C7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va contra sus reglas y arriesga baneos/demandas.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1570567" y="5646737"/>
            <a:ext cx="7164028" cy="838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490"/>
              </a:lnSpc>
              <a:buNone/>
            </a:pPr>
            <a:r>
              <a:rPr lang="en-US" sz="2175" dirty="0">
                <a:solidFill>
                  <a:srgbClr val="C7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contacto sale de Google Maps y de la </a:t>
            </a:r>
            <a:r>
              <a:rPr lang="en-US" sz="2175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pública </a:t>
            </a:r>
            <a:r>
              <a:rPr lang="en-US" sz="2175" dirty="0">
                <a:solidFill>
                  <a:srgbClr val="C7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negocio.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334500" y="2650067"/>
            <a:ext cx="7810500" cy="6836833"/>
          </a:xfrm>
          <a:prstGeom prst="roundRect">
            <a:avLst>
              <a:gd name="adj" fmla="val 2786"/>
            </a:avLst>
          </a:prstGeom>
          <a:solidFill>
            <a:srgbClr val="FFFFFF">
              <a:alpha val="4000"/>
            </a:srgbClr>
          </a:solidFill>
          <a:ln w="8467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0" name="Text 8"/>
          <p:cNvSpPr/>
          <p:nvPr/>
        </p:nvSpPr>
        <p:spPr>
          <a:xfrm>
            <a:off x="9762067" y="3039533"/>
            <a:ext cx="7650903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B9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TOMADAS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62067" y="3492500"/>
            <a:ext cx="268817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07"/>
              </a:lnSpc>
              <a:buNone/>
            </a:pPr>
            <a:r>
              <a:rPr lang="en-US" sz="2025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0107083" y="3492500"/>
            <a:ext cx="4478404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07"/>
              </a:lnSpc>
              <a:buNone/>
            </a:pPr>
            <a:r>
              <a:rPr lang="en-US" sz="2025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modos: Codeflow / genérico.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9762067" y="4030133"/>
            <a:ext cx="268817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07"/>
              </a:lnSpc>
              <a:buNone/>
            </a:pPr>
            <a:r>
              <a:rPr lang="en-US" sz="2025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0107083" y="4030133"/>
            <a:ext cx="5903489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07"/>
              </a:lnSpc>
              <a:buNone/>
            </a:pPr>
            <a:r>
              <a:rPr lang="en-US" sz="2025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según el producto (vacantes o Maps).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9762067" y="4567767"/>
            <a:ext cx="268817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07"/>
              </a:lnSpc>
              <a:buNone/>
            </a:pPr>
            <a:r>
              <a:rPr lang="en-US" sz="2025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10107083" y="4567767"/>
            <a:ext cx="5781252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07"/>
              </a:lnSpc>
              <a:buNone/>
            </a:pPr>
            <a:r>
              <a:rPr lang="en-US" sz="2025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 desde la web del negocio (Apify).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9762067" y="5105400"/>
            <a:ext cx="268817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07"/>
              </a:lnSpc>
              <a:buNone/>
            </a:pPr>
            <a:r>
              <a:rPr lang="en-US" sz="2025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0107083" y="5105400"/>
            <a:ext cx="6817505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07"/>
              </a:lnSpc>
              <a:buNone/>
            </a:pPr>
            <a:r>
              <a:rPr lang="en-US" sz="2025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fuera · IA = Claude Haiku · datos públicos.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9762067" y="5643033"/>
            <a:ext cx="268817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07"/>
              </a:lnSpc>
              <a:buNone/>
            </a:pPr>
            <a:r>
              <a:rPr lang="en-US" sz="2025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0107083" y="5643033"/>
            <a:ext cx="4660014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07"/>
              </a:lnSpc>
              <a:buNone/>
            </a:pPr>
            <a:r>
              <a:rPr lang="en-US" sz="2025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arrancar: priorizar, no descartar.</a:t>
            </a:r>
            <a:endParaRPr lang="en-US" sz="20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HACIA DÓNDE VAMOS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05467"/>
            <a:ext cx="17602200" cy="82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611967"/>
            <a:ext cx="8591550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8FE9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PREGUNTAS PARA DEFINIR CONTIGO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3083983"/>
            <a:ext cx="24579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03098" y="3083983"/>
            <a:ext cx="7673914" cy="766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74"/>
              </a:lnSpc>
              <a:buNone/>
            </a:pPr>
            <a:r>
              <a:rPr lang="en-US" sz="2025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</a:t>
            </a:r>
            <a:r>
              <a:rPr lang="en-US" sz="2025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“CRM” </a:t>
            </a:r>
            <a:r>
              <a:rPr lang="en-US" sz="2025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¿tabla filtrable en Supabase (gratis) o CRM externo tipo HubSpot?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143000" y="4021931"/>
            <a:ext cx="24579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03098" y="4021931"/>
            <a:ext cx="7673914" cy="766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74"/>
              </a:lnSpc>
              <a:buNone/>
            </a:pPr>
            <a:r>
              <a:rPr lang="en-US" sz="2025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1 </a:t>
            </a:r>
            <a:r>
              <a:rPr lang="en-US" sz="2025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¿la lista de productos ya trae las categorías, o la IA las razona?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143000" y="4959879"/>
            <a:ext cx="24579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03098" y="4959879"/>
            <a:ext cx="7673914" cy="766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74"/>
              </a:lnSpc>
              <a:buNone/>
            </a:pPr>
            <a:r>
              <a:rPr lang="en-US" sz="2025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Envío </a:t>
            </a:r>
            <a:r>
              <a:rPr lang="en-US" sz="2025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confirmar dominio dedicado + calentamiento para que lleguen.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334500" y="2611967"/>
            <a:ext cx="7810500" cy="6874933"/>
          </a:xfrm>
          <a:prstGeom prst="roundRect">
            <a:avLst>
              <a:gd name="adj" fmla="val 2771"/>
            </a:avLst>
          </a:prstGeom>
          <a:gradFill rotWithShape="1">
            <a:gsLst>
              <a:gs pos="0">
                <a:srgbClr val="7C5CFF">
                  <a:alpha val="16000"/>
                </a:srgbClr>
              </a:gs>
              <a:gs pos="100000">
                <a:srgbClr val="2DE2A6">
                  <a:alpha val="6000"/>
                </a:srgbClr>
              </a:gs>
            </a:gsLst>
            <a:lin ang="4200000" scaled="0"/>
          </a:gradFill>
          <a:ln w="8467">
            <a:solidFill>
              <a:srgbClr val="7C5C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2" name="Text 10"/>
          <p:cNvSpPr/>
          <p:nvPr/>
        </p:nvSpPr>
        <p:spPr>
          <a:xfrm>
            <a:off x="9762067" y="3001433"/>
            <a:ext cx="7650903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B9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PLAN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762067" y="3454400"/>
            <a:ext cx="323850" cy="372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659"/>
              </a:lnSpc>
              <a:buNone/>
            </a:pPr>
            <a:r>
              <a:rPr lang="en-US" sz="1950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162117" y="3454400"/>
            <a:ext cx="2962077" cy="372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659"/>
              </a:lnSpc>
              <a:buNone/>
            </a:pPr>
            <a:r>
              <a:rPr lang="en-US" sz="1950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 las 3 preguntas.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762067" y="3979201"/>
            <a:ext cx="323850" cy="372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659"/>
              </a:lnSpc>
              <a:buNone/>
            </a:pPr>
            <a:r>
              <a:rPr lang="en-US" sz="1950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162117" y="3979201"/>
            <a:ext cx="6751976" cy="706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659"/>
              </a:lnSpc>
              <a:buNone/>
            </a:pPr>
            <a:r>
              <a:rPr lang="en-US" sz="1950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Conseguir accesos: cuenta de Apify + crédito de Claude.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762067" y="4838303"/>
            <a:ext cx="323850" cy="372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659"/>
              </a:lnSpc>
              <a:buNone/>
            </a:pPr>
            <a:r>
              <a:rPr lang="en-US" sz="1950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162117" y="4838303"/>
            <a:ext cx="7191494" cy="380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659"/>
              </a:lnSpc>
              <a:buNone/>
            </a:pPr>
            <a:r>
              <a:rPr lang="en-US" sz="1950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un </a:t>
            </a:r>
            <a:r>
              <a:rPr lang="en-US" sz="1950" b="1" dirty="0">
                <a:solidFill>
                  <a:srgbClr val="2DE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r>
              <a:rPr lang="en-US" sz="1950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un modo, un canal, de punta a punta.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762067" y="5371571"/>
            <a:ext cx="323850" cy="372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659"/>
              </a:lnSpc>
              <a:buNone/>
            </a:pPr>
            <a:r>
              <a:rPr lang="en-US" sz="1950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162117" y="5371571"/>
            <a:ext cx="6808920" cy="372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659"/>
              </a:lnSpc>
              <a:buNone/>
            </a:pPr>
            <a:r>
              <a:rPr lang="en-US" sz="1950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 con leads reales de Panamá antes de escalar.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1091</TotalTime>
  <Words>1215</Words>
  <Application>Microsoft Office PowerPoint</Application>
  <PresentationFormat>Personalizado</PresentationFormat>
  <Paragraphs>220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JONATHAN QUINTERO</cp:lastModifiedBy>
  <cp:revision>2</cp:revision>
  <dcterms:created xsi:type="dcterms:W3CDTF">2026-07-22T19:22:02Z</dcterms:created>
  <dcterms:modified xsi:type="dcterms:W3CDTF">2026-07-24T15:04:26Z</dcterms:modified>
</cp:coreProperties>
</file>